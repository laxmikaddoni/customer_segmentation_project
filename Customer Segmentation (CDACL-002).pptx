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60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83F7C-C922-4D3E-8D26-2EC6773D6AA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2449A-DA0B-42FF-A5C7-8047BF753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2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CD513-8FA7-4623-93D1-18D9D5B5B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AC221-DFBE-0AE8-807B-295086A0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F4391-1668-1268-B0C7-5D3819B1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8B4FD-0989-2F57-A8E5-B5B7B057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7D3F4-A350-2E3A-8DFB-AAB08352E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5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C9F6-B54F-F93C-A676-B8161ABB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97AAF-B75F-080E-8666-242D7D2C7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0E2E-CFDB-65F4-5DE5-F0E7D22E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64320-F54E-21D4-A78F-362AA3E4F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EA3E7-B536-8AB1-05A5-C554216B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82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21E9-19D6-40F2-1C4F-239E022F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0CF0C-6018-3A97-FEC1-364353F10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8070C-58D2-1AC0-2AAE-7FDB2167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044D7-02F6-3C22-2F47-3EDE6224E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BC85A-08C1-64A0-2C3E-87C46B06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91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FF41-1AAE-1B4F-B476-7A700352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55CB4-A7A3-4DDA-58FF-8D698F795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04716-3E59-5BE0-0540-7BD5E511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19F8C-03EA-C7A0-8449-C029C787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1D41A-02A4-996D-6E3B-8E1C240E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82CA2-E66C-50C4-3331-BC76107B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727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2D4A-4E54-7AF1-6E7F-108511024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466D7-F1A6-8900-3CD7-2AB78178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837F1-4BC6-833D-C888-8DA334A87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0D00A6-034C-E349-AECD-A2A87E1F5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55911-EA02-7DA7-485C-ED911FED9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364BD3-7083-8B12-2095-ECA4FEE3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DD560-6667-1489-38FA-3ED5B911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FF1A8-FB59-A30E-76E5-8E9C316EC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81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7FBF-50E2-1D08-5426-BBF67C77E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9EFBB-950C-9D98-27AE-BC0B5058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0793E3-7499-6DEC-52D3-ED6171D9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78DEE-894F-7424-A2F8-67888690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06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AB2C2-D24C-5F2F-3C58-6D58AF1C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1591A-9317-B41B-F0EB-14DEAFEA0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466F5-86C0-4FDE-BDBE-8DA9CBAD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1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ADA0F-DA95-EEE0-084B-90777337B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CAF28-2696-E37F-471C-30EA7601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FC5599-E754-98BD-EF61-CDD475838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07F67-3FAC-989F-4DB7-32697C78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317AA-37A4-B8AC-8CDC-9BDE1040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FF30B-8586-E6AD-BE01-B4A9E421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4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992CC-A9BC-8E28-426F-CB5DC2BB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9B8C5E-AC13-4A6E-AF07-500668EB3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A6D09-7E86-F0F8-92DF-CB2BC5D59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32083-6F11-CB3A-EAB3-3B80BBD5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AA831-09F2-4C76-B8AD-FCA8A284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F11AB-BA9C-4217-CAFB-A33474C4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7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87DF-6EB0-7D7D-B47F-029205E42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AC319-2D9E-23BF-620A-06DC7408B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1682-4783-3492-0EC6-E0BB591B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DA345-805F-0D11-5C9C-C153AD01E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AB0A9-21FE-37A8-9886-81E70FC1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3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FF5A4-0117-1687-0905-F316669A2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69B76-1AED-8EB4-41C5-36A8FA427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E8779-2790-A87D-5256-08BA2535C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DFCF8-323A-4490-C3C3-A28FD5EB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F5337-E57B-507A-1F49-8CD8C10F8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7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C8C7F-7022-B4D3-D0E9-EBB20C08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42076-A87B-91CC-1E6F-0D261653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25FF2-D3FE-A294-C706-B51356544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49696-6CA7-4104-A5EB-69E7E950D129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9B3A7-1188-7243-C01E-C4643289E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4020-0AE9-A611-AFEB-770202FC1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8546-2DD3-4710-B04F-C93F8D3C8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82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2275-99DA-F5C5-3074-8B1885F369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206" y="688259"/>
            <a:ext cx="9733936" cy="5624052"/>
          </a:xfrm>
        </p:spPr>
        <p:txBody>
          <a:bodyPr>
            <a:normAutofit fontScale="90000"/>
          </a:bodyPr>
          <a:lstStyle/>
          <a:p>
            <a:r>
              <a:rPr lang="en-US" sz="4900" b="1"/>
              <a:t>Customer Segmentation (CDACL-002)</a:t>
            </a:r>
            <a:br>
              <a:rPr lang="en-US" sz="4900" b="1"/>
            </a:br>
            <a:br>
              <a:rPr lang="en-US" sz="4400" b="1"/>
            </a:br>
            <a:r>
              <a:rPr lang="en-US" sz="4400"/>
              <a:t>Submitted by:</a:t>
            </a:r>
            <a:br>
              <a:rPr lang="en-US" sz="4400"/>
            </a:br>
            <a:r>
              <a:rPr lang="en-US" sz="4400"/>
              <a:t>Laxmi Kaddoni</a:t>
            </a:r>
            <a:br>
              <a:rPr lang="en-US" sz="4400"/>
            </a:br>
            <a:br>
              <a:rPr lang="en-US" sz="4400"/>
            </a:br>
            <a:r>
              <a:rPr lang="en-US" sz="4400"/>
              <a:t>Tools Used:</a:t>
            </a:r>
            <a:br>
              <a:rPr lang="en-US" sz="4400"/>
            </a:br>
            <a:r>
              <a:rPr lang="en-US" sz="4400"/>
              <a:t>mysql |Excel| jupyter Notebook | Power BI</a:t>
            </a:r>
            <a:br>
              <a:rPr lang="en-US" sz="2800" b="1"/>
            </a:br>
            <a:br>
              <a:rPr lang="en-US" sz="2800" b="1"/>
            </a:br>
            <a:br>
              <a:rPr lang="en-US" sz="2800"/>
            </a:br>
            <a:br>
              <a:rPr lang="en-US" sz="2800"/>
            </a:br>
            <a:endParaRPr lang="en-US" sz="4400" b="1"/>
          </a:p>
        </p:txBody>
      </p:sp>
    </p:spTree>
    <p:extLst>
      <p:ext uri="{BB962C8B-B14F-4D97-AF65-F5344CB8AC3E}">
        <p14:creationId xmlns:p14="http://schemas.microsoft.com/office/powerpoint/2010/main" val="1093292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BFB400-AE5B-B263-C19D-5DD2F2982A45}"/>
              </a:ext>
            </a:extLst>
          </p:cNvPr>
          <p:cNvSpPr txBox="1"/>
          <p:nvPr/>
        </p:nvSpPr>
        <p:spPr>
          <a:xfrm>
            <a:off x="491613" y="324465"/>
            <a:ext cx="24678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1.Introduction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A3D9FB-BB5F-AC91-A94F-F943F8A209F3}"/>
              </a:ext>
            </a:extLst>
          </p:cNvPr>
          <p:cNvSpPr txBox="1"/>
          <p:nvPr/>
        </p:nvSpPr>
        <p:spPr>
          <a:xfrm>
            <a:off x="1858297" y="983226"/>
            <a:ext cx="7610168" cy="121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effectLst/>
              </a:rPr>
              <a:t>This project focuses on customer segmentation based on purchase data.</a:t>
            </a:r>
          </a:p>
          <a:p>
            <a:r>
              <a:rPr lang="en-US">
                <a:effectLst/>
              </a:rPr>
              <a:t>Dataset size: 3900 records from U.S. market shoppers.</a:t>
            </a:r>
          </a:p>
          <a:p>
            <a:r>
              <a:rPr lang="en-US">
                <a:effectLst/>
              </a:rPr>
              <a:t>Goal: Understand customer behavior and design targeted marketing campaigns.</a:t>
            </a:r>
          </a:p>
          <a:p>
            <a:r>
              <a:rPr lang="en-US">
                <a:effectLst/>
              </a:rPr>
              <a:t>Importance: Helps businesses improve sales, loyalty, and discount strategies.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EE1B3-7A06-FEE5-8A2D-3742671861E6}"/>
              </a:ext>
            </a:extLst>
          </p:cNvPr>
          <p:cNvSpPr txBox="1"/>
          <p:nvPr/>
        </p:nvSpPr>
        <p:spPr>
          <a:xfrm>
            <a:off x="1858297" y="3805084"/>
            <a:ext cx="7020232" cy="121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Analyze spending patterns based on age, season, and 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Perform clustering to group customers into 3+ segments.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Develop targeted marketing campaigns based on shopping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Identify product categories where discounts should be applied.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F5062-0476-CD73-1E75-C1F790DBEB3A}"/>
              </a:ext>
            </a:extLst>
          </p:cNvPr>
          <p:cNvSpPr txBox="1"/>
          <p:nvPr/>
        </p:nvSpPr>
        <p:spPr>
          <a:xfrm>
            <a:off x="491613" y="3052916"/>
            <a:ext cx="2861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/>
              <a:t>2.Objectives</a:t>
            </a:r>
          </a:p>
        </p:txBody>
      </p:sp>
    </p:spTree>
    <p:extLst>
      <p:ext uri="{BB962C8B-B14F-4D97-AF65-F5344CB8AC3E}">
        <p14:creationId xmlns:p14="http://schemas.microsoft.com/office/powerpoint/2010/main" val="3081440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6D8B8-07A9-524C-47AB-4DB5C9BB1221}"/>
              </a:ext>
            </a:extLst>
          </p:cNvPr>
          <p:cNvSpPr txBox="1"/>
          <p:nvPr/>
        </p:nvSpPr>
        <p:spPr>
          <a:xfrm>
            <a:off x="589935" y="373625"/>
            <a:ext cx="4286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3.Dataset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0EC92-1439-AE16-CC14-BEBF4FB6AAEE}"/>
              </a:ext>
            </a:extLst>
          </p:cNvPr>
          <p:cNvSpPr txBox="1"/>
          <p:nvPr/>
        </p:nvSpPr>
        <p:spPr>
          <a:xfrm>
            <a:off x="1966452" y="1096553"/>
            <a:ext cx="74528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Demographics</a:t>
            </a:r>
            <a:r>
              <a:rPr lang="en-US" b="1">
                <a:effectLst/>
              </a:rPr>
              <a:t>:</a:t>
            </a:r>
            <a:r>
              <a:rPr lang="en-US">
                <a:effectLst/>
              </a:rPr>
              <a:t> Age, Gender, 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Purchase Details</a:t>
            </a:r>
            <a:r>
              <a:rPr lang="en-US" b="1">
                <a:effectLst/>
              </a:rPr>
              <a:t>:</a:t>
            </a:r>
            <a:r>
              <a:rPr lang="en-US">
                <a:effectLst/>
              </a:rPr>
              <a:t> Item, Category, Amount, Size, Color, Season.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Customer</a:t>
            </a:r>
            <a:r>
              <a:rPr lang="en-US">
                <a:effectLst/>
              </a:rPr>
              <a:t>Behavioral Data</a:t>
            </a:r>
            <a:r>
              <a:rPr lang="en-US" b="1">
                <a:effectLst/>
              </a:rPr>
              <a:t>:</a:t>
            </a:r>
            <a:r>
              <a:rPr lang="en-US">
                <a:effectLst/>
              </a:rPr>
              <a:t> Frequency of Purchases, Previous Purchases, Subscription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Promotions</a:t>
            </a:r>
            <a:r>
              <a:rPr lang="en-US" b="1">
                <a:effectLst/>
              </a:rPr>
              <a:t>:</a:t>
            </a:r>
            <a:r>
              <a:rPr lang="en-US">
                <a:effectLst/>
              </a:rPr>
              <a:t> Discount Applied, Promo Code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Other Attributes</a:t>
            </a:r>
            <a:r>
              <a:rPr lang="en-US" b="1">
                <a:effectLst/>
              </a:rPr>
              <a:t>:</a:t>
            </a:r>
            <a:r>
              <a:rPr lang="en-US">
                <a:effectLst/>
              </a:rPr>
              <a:t> Payment Method, Review Rating, Shipping Type.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8E186-6CA3-3CF5-6E90-CEFCBC5636ED}"/>
              </a:ext>
            </a:extLst>
          </p:cNvPr>
          <p:cNvSpPr txBox="1"/>
          <p:nvPr/>
        </p:nvSpPr>
        <p:spPr>
          <a:xfrm>
            <a:off x="589936" y="3313471"/>
            <a:ext cx="3716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4.Tools &amp; Technologies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E8A5F55-8C30-4F43-D6B6-5BEAF122B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050" y="4007121"/>
            <a:ext cx="726603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Extraction</a:t>
            </a:r>
            <a:r>
              <a:rPr kumimoji="0" lang="en-US" altLang="en-US" sz="1800" b="1" i="0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(to query and retrieve purchase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&amp; Preprocessing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(Pandas, NumPy).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(Matplotlib, Seaborn).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Clustering &amp; Segmentation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(Scikit-learn </a:t>
            </a:r>
            <a:r>
              <a:rPr lang="en-US" altLang="en-US">
                <a:latin typeface="Arial" panose="020B0604020202020204" pitchFamily="34" charset="0"/>
              </a:rPr>
              <a:t>-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K-means).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&amp; Reporting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BI.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 &amp; Presentation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MS PowerPoint.</a:t>
            </a:r>
          </a:p>
        </p:txBody>
      </p:sp>
    </p:spTree>
    <p:extLst>
      <p:ext uri="{BB962C8B-B14F-4D97-AF65-F5344CB8AC3E}">
        <p14:creationId xmlns:p14="http://schemas.microsoft.com/office/powerpoint/2010/main" val="243840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5165-B72C-6C5D-3235-2F33B6D72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2" y="1032387"/>
            <a:ext cx="8829367" cy="3175820"/>
          </a:xfrm>
        </p:spPr>
        <p:txBody>
          <a:bodyPr>
            <a:normAutofit lnSpcReduction="10000"/>
          </a:bodyPr>
          <a:lstStyle/>
          <a:p>
            <a:r>
              <a:rPr lang="en-US" sz="1900"/>
              <a:t>Data Collection</a:t>
            </a:r>
            <a:r>
              <a:rPr lang="en-US" sz="1900" b="1"/>
              <a:t>:</a:t>
            </a:r>
            <a:r>
              <a:rPr lang="en-US" sz="1900"/>
              <a:t> Extract purchase data using SQL.</a:t>
            </a:r>
          </a:p>
          <a:p>
            <a:r>
              <a:rPr lang="en-US" sz="1900"/>
              <a:t>Data Cleaning</a:t>
            </a:r>
            <a:r>
              <a:rPr lang="en-US" sz="1900" b="1"/>
              <a:t>:</a:t>
            </a:r>
            <a:r>
              <a:rPr lang="en-US" sz="1900"/>
              <a:t> Handle missing values, encode categorical variables, normalize numerical data.</a:t>
            </a:r>
          </a:p>
          <a:p>
            <a:r>
              <a:rPr lang="en-US" sz="1900"/>
              <a:t>Exploratory Data Analysis (EDA)</a:t>
            </a:r>
            <a:r>
              <a:rPr lang="en-US" sz="1900" b="1"/>
              <a:t>:</a:t>
            </a:r>
            <a:r>
              <a:rPr lang="en-US" sz="1900"/>
              <a:t> Identify spending patterns by age, season, and location.</a:t>
            </a:r>
          </a:p>
          <a:p>
            <a:r>
              <a:rPr lang="en-US" sz="1900"/>
              <a:t>Discount Strategy</a:t>
            </a:r>
            <a:r>
              <a:rPr lang="en-US" sz="1900" b="1"/>
              <a:t>:</a:t>
            </a:r>
            <a:r>
              <a:rPr lang="en-US" sz="1900"/>
              <a:t> Determine categories where discounts are most effective.</a:t>
            </a:r>
          </a:p>
          <a:p>
            <a:r>
              <a:rPr lang="en-US" sz="1900"/>
              <a:t>Clustering</a:t>
            </a:r>
            <a:r>
              <a:rPr lang="en-US" sz="1900" b="1"/>
              <a:t>:</a:t>
            </a:r>
            <a:r>
              <a:rPr lang="en-US" sz="1900"/>
              <a:t> Apply K-means to segment customers into groups.</a:t>
            </a:r>
          </a:p>
          <a:p>
            <a:r>
              <a:rPr lang="en-US" sz="1900"/>
              <a:t>Insights &amp; Campaigns</a:t>
            </a:r>
            <a:r>
              <a:rPr lang="en-US" sz="1900" b="1"/>
              <a:t>:</a:t>
            </a:r>
            <a:r>
              <a:rPr lang="en-US" sz="1900"/>
              <a:t> Design targeted marketing strategies for each cluster.</a:t>
            </a:r>
          </a:p>
          <a:p>
            <a:r>
              <a:rPr lang="en-US" sz="1900"/>
              <a:t>Visualization &amp; Reporting</a:t>
            </a:r>
            <a:r>
              <a:rPr lang="en-US" sz="1900" b="1"/>
              <a:t>:</a:t>
            </a:r>
            <a:r>
              <a:rPr lang="en-US" sz="1900"/>
              <a:t> Create dashboards and present findings to client.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358DC-908D-D175-EEDF-B402D5D05ABF}"/>
              </a:ext>
            </a:extLst>
          </p:cNvPr>
          <p:cNvSpPr txBox="1"/>
          <p:nvPr/>
        </p:nvSpPr>
        <p:spPr>
          <a:xfrm>
            <a:off x="521110" y="363794"/>
            <a:ext cx="4729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5. Project Workflow</a:t>
            </a:r>
          </a:p>
        </p:txBody>
      </p:sp>
    </p:spTree>
    <p:extLst>
      <p:ext uri="{BB962C8B-B14F-4D97-AF65-F5344CB8AC3E}">
        <p14:creationId xmlns:p14="http://schemas.microsoft.com/office/powerpoint/2010/main" val="1904247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9010D-B2A4-4EEC-8F31-FA22F1E2DCBD}"/>
              </a:ext>
            </a:extLst>
          </p:cNvPr>
          <p:cNvSpPr txBox="1"/>
          <p:nvPr/>
        </p:nvSpPr>
        <p:spPr>
          <a:xfrm>
            <a:off x="1727200" y="1254036"/>
            <a:ext cx="9286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SQL-based data extraction</a:t>
            </a:r>
            <a:r>
              <a:rPr lang="en-US"/>
              <a:t> involves retrieving structured customer data from a relational database using SQL queries for analysis and reporting purposes.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E3EFE-D949-8515-D258-9D460BFC8394}"/>
              </a:ext>
            </a:extLst>
          </p:cNvPr>
          <p:cNvSpPr txBox="1"/>
          <p:nvPr/>
        </p:nvSpPr>
        <p:spPr>
          <a:xfrm>
            <a:off x="528320" y="236974"/>
            <a:ext cx="3495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/>
              <a:t>6.Data Extraction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19680-1B95-E2DF-4C41-E34A60876D63}"/>
              </a:ext>
            </a:extLst>
          </p:cNvPr>
          <p:cNvSpPr txBox="1"/>
          <p:nvPr/>
        </p:nvSpPr>
        <p:spPr>
          <a:xfrm>
            <a:off x="528320" y="2472174"/>
            <a:ext cx="403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7.Database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15A80-D9B0-41E1-1333-6FF80DE15B58}"/>
              </a:ext>
            </a:extLst>
          </p:cNvPr>
          <p:cNvSpPr txBox="1"/>
          <p:nvPr/>
        </p:nvSpPr>
        <p:spPr>
          <a:xfrm>
            <a:off x="1513840" y="3390483"/>
            <a:ext cx="1016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 customer shopping dataset was stored in a relational database table containing customer demographic, transactional, and behavioral information required for segmentation analysis.</a:t>
            </a:r>
          </a:p>
        </p:txBody>
      </p:sp>
    </p:spTree>
    <p:extLst>
      <p:ext uri="{BB962C8B-B14F-4D97-AF65-F5344CB8AC3E}">
        <p14:creationId xmlns:p14="http://schemas.microsoft.com/office/powerpoint/2010/main" val="484529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5C7239-DBCF-7262-6426-E3535031E07D}"/>
              </a:ext>
            </a:extLst>
          </p:cNvPr>
          <p:cNvSpPr txBox="1"/>
          <p:nvPr/>
        </p:nvSpPr>
        <p:spPr>
          <a:xfrm>
            <a:off x="447040" y="409694"/>
            <a:ext cx="3657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8.Database Creation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B9B71F-19FA-4413-B042-B88F1935D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81" y="999718"/>
            <a:ext cx="9507794" cy="485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86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C4756E-6ABC-BE28-2400-5CBD08171E15}"/>
              </a:ext>
            </a:extLst>
          </p:cNvPr>
          <p:cNvSpPr txBox="1"/>
          <p:nvPr/>
        </p:nvSpPr>
        <p:spPr>
          <a:xfrm>
            <a:off x="462115" y="277450"/>
            <a:ext cx="59091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9.Customer Data Table Creation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A0724-EAEA-11D9-4492-CF96554D9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348" y="894735"/>
            <a:ext cx="9035846" cy="535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5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134B0D-D532-8234-AA86-88384AF98637}"/>
              </a:ext>
            </a:extLst>
          </p:cNvPr>
          <p:cNvSpPr txBox="1"/>
          <p:nvPr/>
        </p:nvSpPr>
        <p:spPr>
          <a:xfrm>
            <a:off x="432620" y="334296"/>
            <a:ext cx="4788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10.Verifying Created Tables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1E754B-E0EF-5696-AB54-C6FD7A613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37920"/>
            <a:ext cx="1040384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51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27F2E-B46C-5516-901B-862757DE87A4}"/>
              </a:ext>
            </a:extLst>
          </p:cNvPr>
          <p:cNvSpPr txBox="1"/>
          <p:nvPr/>
        </p:nvSpPr>
        <p:spPr>
          <a:xfrm>
            <a:off x="344129" y="275303"/>
            <a:ext cx="4434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11.Customer Data Preview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03752-B651-E352-DEA9-892879E5B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975360"/>
            <a:ext cx="937768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59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BCA35A-E7AC-2261-8538-5EA71423BDE1}"/>
              </a:ext>
            </a:extLst>
          </p:cNvPr>
          <p:cNvSpPr txBox="1"/>
          <p:nvPr/>
        </p:nvSpPr>
        <p:spPr>
          <a:xfrm>
            <a:off x="471948" y="375772"/>
            <a:ext cx="46899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12.Preview Extracted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47E2F5-746C-3137-672B-34F402136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7" y="1163372"/>
            <a:ext cx="9763432" cy="449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85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137D98-3D1A-333B-E92E-3BFAB8A32714}"/>
              </a:ext>
            </a:extLst>
          </p:cNvPr>
          <p:cNvSpPr txBox="1"/>
          <p:nvPr/>
        </p:nvSpPr>
        <p:spPr>
          <a:xfrm>
            <a:off x="196645" y="188960"/>
            <a:ext cx="50144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13.Record Count Validation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CF92B-9202-E26A-54A1-3674DE112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813" y="1012723"/>
            <a:ext cx="9488129" cy="48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59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58FD61-AD08-F326-8489-C8B90AD83209}"/>
              </a:ext>
            </a:extLst>
          </p:cNvPr>
          <p:cNvSpPr txBox="1"/>
          <p:nvPr/>
        </p:nvSpPr>
        <p:spPr>
          <a:xfrm>
            <a:off x="324464" y="336443"/>
            <a:ext cx="4955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14.Table Schema Inspection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CD59FD-AE35-6248-7E88-22881FAF7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1179870"/>
            <a:ext cx="9006347" cy="445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8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06ECA3-87BC-9CA4-446A-9BBC951313C3}"/>
              </a:ext>
            </a:extLst>
          </p:cNvPr>
          <p:cNvSpPr txBox="1"/>
          <p:nvPr/>
        </p:nvSpPr>
        <p:spPr>
          <a:xfrm>
            <a:off x="393290" y="336443"/>
            <a:ext cx="44146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15.Missing Values Check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A68BB-7D32-E5A1-AF16-7879C883E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7" y="1272353"/>
            <a:ext cx="9212826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98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27630C-81EB-FE18-B40A-98DF0BADB1F2}"/>
              </a:ext>
            </a:extLst>
          </p:cNvPr>
          <p:cNvSpPr txBox="1"/>
          <p:nvPr/>
        </p:nvSpPr>
        <p:spPr>
          <a:xfrm>
            <a:off x="226141" y="2479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16.Category-wise Purchase Extraction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D6570-A0E5-6700-F0E7-33128750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619" y="983226"/>
            <a:ext cx="8504903" cy="496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62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EA87F5-A7BC-E72A-6E75-3C61CCBA5EBF}"/>
              </a:ext>
            </a:extLst>
          </p:cNvPr>
          <p:cNvSpPr txBox="1"/>
          <p:nvPr/>
        </p:nvSpPr>
        <p:spPr>
          <a:xfrm>
            <a:off x="324465" y="27660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/>
              <a:t>17.Age-wise Average Spending</a:t>
            </a:r>
            <a:endParaRPr lang="en-US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552A4-F9DE-3750-B161-B02FBD489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490" y="1032387"/>
            <a:ext cx="9252155" cy="477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2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30350B-08D9-A9C3-14C0-5197CD6AFAA5}"/>
              </a:ext>
            </a:extLst>
          </p:cNvPr>
          <p:cNvSpPr txBox="1"/>
          <p:nvPr/>
        </p:nvSpPr>
        <p:spPr>
          <a:xfrm>
            <a:off x="383458" y="257785"/>
            <a:ext cx="47194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18.Season-wise Sales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A7E3B-65F7-00CC-FB8A-70F1A063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987" y="1101213"/>
            <a:ext cx="9075174" cy="472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34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0595FF-C286-E0FE-7DD9-D4CB40E09E7A}"/>
              </a:ext>
            </a:extLst>
          </p:cNvPr>
          <p:cNvSpPr txBox="1"/>
          <p:nvPr/>
        </p:nvSpPr>
        <p:spPr>
          <a:xfrm>
            <a:off x="226141" y="336443"/>
            <a:ext cx="66859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19.Discount Applied vs Purchase Amount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FAB4E-AC9F-7364-E888-F6A3B859B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038" y="1160206"/>
            <a:ext cx="8754788" cy="47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60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39778A-9B89-6351-D204-3A220D807476}"/>
              </a:ext>
            </a:extLst>
          </p:cNvPr>
          <p:cNvSpPr txBox="1"/>
          <p:nvPr/>
        </p:nvSpPr>
        <p:spPr>
          <a:xfrm>
            <a:off x="481781" y="314632"/>
            <a:ext cx="4296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20.Data Cleaning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4FA20-53E6-5060-DF36-F97850886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35" y="1150963"/>
            <a:ext cx="4595153" cy="4290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C36472-3F27-21C0-7252-34A201728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590" y="1150963"/>
            <a:ext cx="5396017" cy="407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53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65CD3F-8C9C-B1AA-39D0-1233306D13FF}"/>
              </a:ext>
            </a:extLst>
          </p:cNvPr>
          <p:cNvSpPr txBox="1"/>
          <p:nvPr/>
        </p:nvSpPr>
        <p:spPr>
          <a:xfrm>
            <a:off x="943895" y="757084"/>
            <a:ext cx="3667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Checked 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Checked duplicates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Cleaned column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Converted datatypes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8364BE-8F80-5474-5137-B783B3AA114F}"/>
              </a:ext>
            </a:extLst>
          </p:cNvPr>
          <p:cNvSpPr txBox="1"/>
          <p:nvPr/>
        </p:nvSpPr>
        <p:spPr>
          <a:xfrm>
            <a:off x="501445" y="2497394"/>
            <a:ext cx="22614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21.insights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FF849-6007-2101-3AEC-F69B01C2D496}"/>
              </a:ext>
            </a:extLst>
          </p:cNvPr>
          <p:cNvSpPr txBox="1"/>
          <p:nvPr/>
        </p:nvSpPr>
        <p:spPr>
          <a:xfrm>
            <a:off x="943895" y="3429000"/>
            <a:ext cx="5152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missing values found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Dataset contains 3900 records and 19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Dataset is clean and ready for analysis</a:t>
            </a:r>
          </a:p>
        </p:txBody>
      </p:sp>
    </p:spTree>
    <p:extLst>
      <p:ext uri="{BB962C8B-B14F-4D97-AF65-F5344CB8AC3E}">
        <p14:creationId xmlns:p14="http://schemas.microsoft.com/office/powerpoint/2010/main" val="3128469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C663A-30C7-7722-0614-DD05936CDB66}"/>
              </a:ext>
            </a:extLst>
          </p:cNvPr>
          <p:cNvSpPr txBox="1"/>
          <p:nvPr/>
        </p:nvSpPr>
        <p:spPr>
          <a:xfrm>
            <a:off x="245807" y="235974"/>
            <a:ext cx="5643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22.Dataset Overview and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37EF-EF13-6A7B-0F48-284191D3A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317" y="977252"/>
            <a:ext cx="4130398" cy="3880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CCF2F8-7B49-6F8E-4064-9604169A7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374" y="977252"/>
            <a:ext cx="5982911" cy="38806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FC06A2-6DE2-0C3B-D548-968355B82B32}"/>
              </a:ext>
            </a:extLst>
          </p:cNvPr>
          <p:cNvSpPr txBox="1"/>
          <p:nvPr/>
        </p:nvSpPr>
        <p:spPr>
          <a:xfrm>
            <a:off x="835316" y="5241045"/>
            <a:ext cx="9075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This section provides an overview of the dataset, including the number of records,</a:t>
            </a:r>
            <a:br>
              <a:rPr lang="en-US"/>
            </a:br>
            <a:r>
              <a:rPr lang="en-US"/>
              <a:t>features, and data types after cleaning.</a:t>
            </a:r>
          </a:p>
        </p:txBody>
      </p:sp>
    </p:spTree>
    <p:extLst>
      <p:ext uri="{BB962C8B-B14F-4D97-AF65-F5344CB8AC3E}">
        <p14:creationId xmlns:p14="http://schemas.microsoft.com/office/powerpoint/2010/main" val="296353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C7CB3A-D4EB-275C-D094-91967E9D5372}"/>
              </a:ext>
            </a:extLst>
          </p:cNvPr>
          <p:cNvSpPr txBox="1"/>
          <p:nvPr/>
        </p:nvSpPr>
        <p:spPr>
          <a:xfrm>
            <a:off x="245806" y="265471"/>
            <a:ext cx="4857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23.Customer Age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9FA71-6F3D-9FFA-C41F-8037D1D43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75" y="1039007"/>
            <a:ext cx="8180463" cy="3313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2463E-7856-40B7-E517-712447D05133}"/>
              </a:ext>
            </a:extLst>
          </p:cNvPr>
          <p:cNvSpPr txBox="1"/>
          <p:nvPr/>
        </p:nvSpPr>
        <p:spPr>
          <a:xfrm>
            <a:off x="1278193" y="4602796"/>
            <a:ext cx="7030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Analyze how customers are distributed across different age ranges.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C3741-E9A8-9ED1-6407-A196078DA503}"/>
              </a:ext>
            </a:extLst>
          </p:cNvPr>
          <p:cNvSpPr txBox="1"/>
          <p:nvPr/>
        </p:nvSpPr>
        <p:spPr>
          <a:xfrm>
            <a:off x="1278193" y="5073445"/>
            <a:ext cx="9606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Most customers fall between the 26–40 age group, indicating a strong working-age customer base.</a:t>
            </a:r>
          </a:p>
        </p:txBody>
      </p:sp>
    </p:spTree>
    <p:extLst>
      <p:ext uri="{BB962C8B-B14F-4D97-AF65-F5344CB8AC3E}">
        <p14:creationId xmlns:p14="http://schemas.microsoft.com/office/powerpoint/2010/main" val="2596492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3829AC-4672-92E2-52CA-D2D1EC5D0602}"/>
              </a:ext>
            </a:extLst>
          </p:cNvPr>
          <p:cNvSpPr txBox="1"/>
          <p:nvPr/>
        </p:nvSpPr>
        <p:spPr>
          <a:xfrm>
            <a:off x="294968" y="324465"/>
            <a:ext cx="6617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24.Gender-wise Customer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04041-9E49-9B01-CE95-6566BE80A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19" y="1118749"/>
            <a:ext cx="9753601" cy="33157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E8D4F2-C6F5-2593-90B8-FDEDC3B5AFE4}"/>
              </a:ext>
            </a:extLst>
          </p:cNvPr>
          <p:cNvSpPr txBox="1"/>
          <p:nvPr/>
        </p:nvSpPr>
        <p:spPr>
          <a:xfrm>
            <a:off x="1189702" y="4660490"/>
            <a:ext cx="7708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Understand gender representation among customers.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8FB203-C0E2-18D8-9896-198F152CF7DD}"/>
              </a:ext>
            </a:extLst>
          </p:cNvPr>
          <p:cNvSpPr txBox="1"/>
          <p:nvPr/>
        </p:nvSpPr>
        <p:spPr>
          <a:xfrm>
            <a:off x="1189702" y="5300886"/>
            <a:ext cx="9026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Male and female customers are nearly equally represented.</a:t>
            </a:r>
          </a:p>
        </p:txBody>
      </p:sp>
    </p:spTree>
    <p:extLst>
      <p:ext uri="{BB962C8B-B14F-4D97-AF65-F5344CB8AC3E}">
        <p14:creationId xmlns:p14="http://schemas.microsoft.com/office/powerpoint/2010/main" val="941522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F9E5FE-F12B-45B6-6C5C-4AAC6A299E8D}"/>
              </a:ext>
            </a:extLst>
          </p:cNvPr>
          <p:cNvSpPr txBox="1"/>
          <p:nvPr/>
        </p:nvSpPr>
        <p:spPr>
          <a:xfrm>
            <a:off x="491613" y="294968"/>
            <a:ext cx="6125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25.Purchase Amount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9AA99-22EE-C1F7-4150-57546F440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96" y="1001609"/>
            <a:ext cx="9586451" cy="34032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30A61C-3BD3-E87E-85AB-BCBBEEB60315}"/>
              </a:ext>
            </a:extLst>
          </p:cNvPr>
          <p:cNvSpPr txBox="1"/>
          <p:nvPr/>
        </p:nvSpPr>
        <p:spPr>
          <a:xfrm>
            <a:off x="845574" y="4748981"/>
            <a:ext cx="707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Analyze how purchase amounts vary among customers.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DDF785-59B2-A9CA-AF8A-6DF8BBAE9F00}"/>
              </a:ext>
            </a:extLst>
          </p:cNvPr>
          <p:cNvSpPr txBox="1"/>
          <p:nvPr/>
        </p:nvSpPr>
        <p:spPr>
          <a:xfrm>
            <a:off x="845574" y="5301734"/>
            <a:ext cx="88023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Most purchases are within a moderate range, with a few high-value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911511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276D26-5F3A-A91F-3A3B-96024BB27D2C}"/>
              </a:ext>
            </a:extLst>
          </p:cNvPr>
          <p:cNvSpPr txBox="1"/>
          <p:nvPr/>
        </p:nvSpPr>
        <p:spPr>
          <a:xfrm>
            <a:off x="353961" y="19879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26.Product Category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74E58-202E-536C-95E4-A44C14654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7" y="1125942"/>
            <a:ext cx="10363200" cy="3229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80F3C4-8CA9-37B8-9F3B-FC580718783C}"/>
              </a:ext>
            </a:extLst>
          </p:cNvPr>
          <p:cNvSpPr txBox="1"/>
          <p:nvPr/>
        </p:nvSpPr>
        <p:spPr>
          <a:xfrm>
            <a:off x="803679" y="4759619"/>
            <a:ext cx="8038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Identify the most frequently purchased product categories.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8A0F2-6334-2795-C522-760335640B1C}"/>
              </a:ext>
            </a:extLst>
          </p:cNvPr>
          <p:cNvSpPr txBox="1"/>
          <p:nvPr/>
        </p:nvSpPr>
        <p:spPr>
          <a:xfrm>
            <a:off x="727587" y="5330384"/>
            <a:ext cx="8190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Clothing and accessories dominate customer purchases.</a:t>
            </a:r>
          </a:p>
        </p:txBody>
      </p:sp>
    </p:spTree>
    <p:extLst>
      <p:ext uri="{BB962C8B-B14F-4D97-AF65-F5344CB8AC3E}">
        <p14:creationId xmlns:p14="http://schemas.microsoft.com/office/powerpoint/2010/main" val="1480905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D60E45-FC3B-DC09-9CEC-B7C2FAECC02D}"/>
              </a:ext>
            </a:extLst>
          </p:cNvPr>
          <p:cNvSpPr txBox="1"/>
          <p:nvPr/>
        </p:nvSpPr>
        <p:spPr>
          <a:xfrm>
            <a:off x="206478" y="366797"/>
            <a:ext cx="6479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27.Impact of Discounts on Purchases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E71FD-A174-CEE9-2E59-CAC595940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58" y="1111046"/>
            <a:ext cx="9920748" cy="33921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A452D0-7D89-9DC0-5F21-E2DB55879788}"/>
              </a:ext>
            </a:extLst>
          </p:cNvPr>
          <p:cNvSpPr txBox="1"/>
          <p:nvPr/>
        </p:nvSpPr>
        <p:spPr>
          <a:xfrm>
            <a:off x="963561" y="4776019"/>
            <a:ext cx="8249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Understand how discounts affect customer purchases.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7E5AF-0998-C697-FC2D-CB3249D43E1A}"/>
              </a:ext>
            </a:extLst>
          </p:cNvPr>
          <p:cNvSpPr txBox="1"/>
          <p:nvPr/>
        </p:nvSpPr>
        <p:spPr>
          <a:xfrm>
            <a:off x="963561" y="5228208"/>
            <a:ext cx="8583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A significant number of customers respond positively to discounts.</a:t>
            </a:r>
          </a:p>
        </p:txBody>
      </p:sp>
    </p:spTree>
    <p:extLst>
      <p:ext uri="{BB962C8B-B14F-4D97-AF65-F5344CB8AC3E}">
        <p14:creationId xmlns:p14="http://schemas.microsoft.com/office/powerpoint/2010/main" val="3459087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48C0C9-E962-622F-26C1-2DDD434BC2E7}"/>
              </a:ext>
            </a:extLst>
          </p:cNvPr>
          <p:cNvSpPr txBox="1"/>
          <p:nvPr/>
        </p:nvSpPr>
        <p:spPr>
          <a:xfrm>
            <a:off x="235974" y="287102"/>
            <a:ext cx="65777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28.Promo Code Usage by Customers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F5C4C-DA15-3FBC-0F40-D36EE35C5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48" y="986744"/>
            <a:ext cx="10274710" cy="37425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73C338-CC67-BF44-FC75-C71583A5F097}"/>
              </a:ext>
            </a:extLst>
          </p:cNvPr>
          <p:cNvSpPr txBox="1"/>
          <p:nvPr/>
        </p:nvSpPr>
        <p:spPr>
          <a:xfrm>
            <a:off x="717755" y="5137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Analyze customer interaction with promotional offers.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A4A0A-DDED-91CF-6828-FD8FB5BDB637}"/>
              </a:ext>
            </a:extLst>
          </p:cNvPr>
          <p:cNvSpPr txBox="1"/>
          <p:nvPr/>
        </p:nvSpPr>
        <p:spPr>
          <a:xfrm>
            <a:off x="639096" y="5683496"/>
            <a:ext cx="81411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Promo codes are actively used, especially by frequent shoppers.</a:t>
            </a:r>
          </a:p>
        </p:txBody>
      </p:sp>
    </p:spTree>
    <p:extLst>
      <p:ext uri="{BB962C8B-B14F-4D97-AF65-F5344CB8AC3E}">
        <p14:creationId xmlns:p14="http://schemas.microsoft.com/office/powerpoint/2010/main" val="4115244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CB238-3774-CD08-F36D-A8CB5F971710}"/>
              </a:ext>
            </a:extLst>
          </p:cNvPr>
          <p:cNvSpPr txBox="1"/>
          <p:nvPr/>
        </p:nvSpPr>
        <p:spPr>
          <a:xfrm>
            <a:off x="353961" y="277450"/>
            <a:ext cx="4798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29.Age vs Spending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0CEB5-EE73-2A3C-A9CB-88998C22DDC5}"/>
              </a:ext>
            </a:extLst>
          </p:cNvPr>
          <p:cNvSpPr txBox="1"/>
          <p:nvPr/>
        </p:nvSpPr>
        <p:spPr>
          <a:xfrm>
            <a:off x="875069" y="4920907"/>
            <a:ext cx="6882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Analyze how spending varies across age groups.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20747-8A82-7337-A1B6-739E549EDC7C}"/>
              </a:ext>
            </a:extLst>
          </p:cNvPr>
          <p:cNvSpPr txBox="1"/>
          <p:nvPr/>
        </p:nvSpPr>
        <p:spPr>
          <a:xfrm>
            <a:off x="855406" y="5418874"/>
            <a:ext cx="8347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Customers aged 26–40 show the highest average spending.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B976A4-2856-4ECF-1450-C08ED06C5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123" y="1120877"/>
            <a:ext cx="8632722" cy="358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05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68E2D-3751-9A9D-8E6B-3187E4B7DCD7}"/>
              </a:ext>
            </a:extLst>
          </p:cNvPr>
          <p:cNvSpPr txBox="1"/>
          <p:nvPr/>
        </p:nvSpPr>
        <p:spPr>
          <a:xfrm>
            <a:off x="481780" y="474095"/>
            <a:ext cx="5358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30.Seasonal Shopping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E9C25-630E-6481-D235-038A35D0E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5" y="1514167"/>
            <a:ext cx="9851814" cy="32053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2E1DBF-F87D-CEEB-7175-6427B19FFCF5}"/>
              </a:ext>
            </a:extLst>
          </p:cNvPr>
          <p:cNvSpPr txBox="1"/>
          <p:nvPr/>
        </p:nvSpPr>
        <p:spPr>
          <a:xfrm>
            <a:off x="830824" y="52599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Understand how seasons impact customer purchases.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DD9EC8-1F13-4CE5-5016-229B4998E419}"/>
              </a:ext>
            </a:extLst>
          </p:cNvPr>
          <p:cNvSpPr txBox="1"/>
          <p:nvPr/>
        </p:nvSpPr>
        <p:spPr>
          <a:xfrm>
            <a:off x="830824" y="5799129"/>
            <a:ext cx="6371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Winter and Fall seasons record the highest average sales.</a:t>
            </a:r>
          </a:p>
        </p:txBody>
      </p:sp>
    </p:spTree>
    <p:extLst>
      <p:ext uri="{BB962C8B-B14F-4D97-AF65-F5344CB8AC3E}">
        <p14:creationId xmlns:p14="http://schemas.microsoft.com/office/powerpoint/2010/main" val="3719686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B80AE7-8FAE-1506-B38B-3925CBD03E06}"/>
              </a:ext>
            </a:extLst>
          </p:cNvPr>
          <p:cNvSpPr txBox="1"/>
          <p:nvPr/>
        </p:nvSpPr>
        <p:spPr>
          <a:xfrm>
            <a:off x="285136" y="21845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31.Preferred Payment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9313A1-8A65-9219-B3E1-C1FFD0222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19" y="1059425"/>
            <a:ext cx="9350478" cy="3601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069B1B-A896-99CB-807C-2420B3D1512F}"/>
              </a:ext>
            </a:extLst>
          </p:cNvPr>
          <p:cNvSpPr txBox="1"/>
          <p:nvPr/>
        </p:nvSpPr>
        <p:spPr>
          <a:xfrm>
            <a:off x="1022555" y="4928108"/>
            <a:ext cx="7875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Analyze customer payment preferences.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CB8A9-38BB-BA9E-C687-EC3EF878DE81}"/>
              </a:ext>
            </a:extLst>
          </p:cNvPr>
          <p:cNvSpPr txBox="1"/>
          <p:nvPr/>
        </p:nvSpPr>
        <p:spPr>
          <a:xfrm>
            <a:off x="1022555" y="5474908"/>
            <a:ext cx="7157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Insight</a:t>
            </a:r>
          </a:p>
          <a:p>
            <a:pPr>
              <a:buNone/>
            </a:pPr>
            <a:r>
              <a:rPr lang="en-US"/>
              <a:t>Card-based payments are the most preferred method.</a:t>
            </a:r>
          </a:p>
        </p:txBody>
      </p:sp>
    </p:spTree>
    <p:extLst>
      <p:ext uri="{BB962C8B-B14F-4D97-AF65-F5344CB8AC3E}">
        <p14:creationId xmlns:p14="http://schemas.microsoft.com/office/powerpoint/2010/main" val="30227303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B7DB6F-9F8E-17E9-83C5-AF2FF8855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0" y="2046515"/>
            <a:ext cx="62585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Discounts are effective in fashion-related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aged 26–40 generate maximum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demand peaks in Winter and Fall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 codes influence younger customers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61ECA-0AC2-DC1C-7932-E2443C89D129}"/>
              </a:ext>
            </a:extLst>
          </p:cNvPr>
          <p:cNvSpPr txBox="1"/>
          <p:nvPr/>
        </p:nvSpPr>
        <p:spPr>
          <a:xfrm>
            <a:off x="599440" y="619760"/>
            <a:ext cx="462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32.Key Insights from EDA</a:t>
            </a:r>
          </a:p>
        </p:txBody>
      </p:sp>
    </p:spTree>
    <p:extLst>
      <p:ext uri="{BB962C8B-B14F-4D97-AF65-F5344CB8AC3E}">
        <p14:creationId xmlns:p14="http://schemas.microsoft.com/office/powerpoint/2010/main" val="6784203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3158F-A143-6318-E98E-E2094608D5FC}"/>
              </a:ext>
            </a:extLst>
          </p:cNvPr>
          <p:cNvSpPr txBox="1"/>
          <p:nvPr/>
        </p:nvSpPr>
        <p:spPr>
          <a:xfrm>
            <a:off x="363793" y="27745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33.High Demand Product Categories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3D2E12-9D19-0BF9-7D5D-EAB11A9B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13" y="1081549"/>
            <a:ext cx="8888360" cy="3519947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59BEE76-848C-E763-0DB1-C84351C83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575" y="5005268"/>
            <a:ext cx="90260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reasoning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/>
              <a:t>High-demand categories benefit from small discounts as they increase sales volume and repeat purchases. Discounts here function as a growth driver, not a revenue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001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313A82-BF9E-B0BA-8793-8A1EC6DB97BD}"/>
              </a:ext>
            </a:extLst>
          </p:cNvPr>
          <p:cNvSpPr txBox="1"/>
          <p:nvPr/>
        </p:nvSpPr>
        <p:spPr>
          <a:xfrm>
            <a:off x="393290" y="356109"/>
            <a:ext cx="76691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34.Category-wise Discount Usage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91EE4-2CFE-198B-4F38-FCFAF7564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65" y="1141865"/>
            <a:ext cx="9114503" cy="3410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6DAD09-06AC-3B54-6949-FEA0576221CA}"/>
              </a:ext>
            </a:extLst>
          </p:cNvPr>
          <p:cNvSpPr txBox="1"/>
          <p:nvPr/>
        </p:nvSpPr>
        <p:spPr>
          <a:xfrm>
            <a:off x="973395" y="4999251"/>
            <a:ext cx="9684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>
                <a:latin typeface="Arial" panose="020B0604020202020204" pitchFamily="34" charset="0"/>
              </a:rPr>
              <a:t>Business reasoning</a:t>
            </a:r>
          </a:p>
          <a:p>
            <a:r>
              <a:rPr lang="en-US"/>
              <a:t>Low discount exposure in high-demand categories presents an opportunity. Targeted discounts can increase basket value and loyalty without impacting margins.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31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EB6157-5366-FB7B-3E04-FF63A3CB3FB7}"/>
              </a:ext>
            </a:extLst>
          </p:cNvPr>
          <p:cNvSpPr txBox="1"/>
          <p:nvPr/>
        </p:nvSpPr>
        <p:spPr>
          <a:xfrm>
            <a:off x="422787" y="180183"/>
            <a:ext cx="6843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35.Low Sales but High Potential Categories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1C798-04AC-FFEB-974A-7CE7B40F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65" y="1160206"/>
            <a:ext cx="9104670" cy="3480619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10CA7BF-ED11-B69F-D951-826E22906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097628"/>
            <a:ext cx="99010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latin typeface="Arial" panose="020B0604020202020204" pitchFamily="34" charset="0"/>
              </a:rPr>
              <a:t>Business reasoning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/>
              <a:t>Low-sales but high-potential categories benefit from discounts that reduce price hesitation and convert browsers into buyers.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0302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99A2FD-E7A9-8D27-2E71-6CCE96D375F5}"/>
              </a:ext>
            </a:extLst>
          </p:cNvPr>
          <p:cNvSpPr txBox="1"/>
          <p:nvPr/>
        </p:nvSpPr>
        <p:spPr>
          <a:xfrm>
            <a:off x="353961" y="208624"/>
            <a:ext cx="48276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36.Card Spending by 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ECF8-7E56-69A2-BFDF-FD0732989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97" y="985372"/>
            <a:ext cx="8790037" cy="381276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B5B0009-7D5E-EE3A-4F30-BAC5B09FA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58" y="4901211"/>
            <a:ext cx="78363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/>
              <a:t>Business Insights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Middle-age customers spend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using cards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Younger customers use cards but spend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 per transaction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Older customers spend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occasionally but on higher-value items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256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A480C-CCF1-3A73-B6EC-A70BF2F497CD}"/>
              </a:ext>
            </a:extLst>
          </p:cNvPr>
          <p:cNvSpPr txBox="1"/>
          <p:nvPr/>
        </p:nvSpPr>
        <p:spPr>
          <a:xfrm>
            <a:off x="275303" y="20862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37.Season-wise Card Spending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18CEE-1E74-701E-9A31-7798C360F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1067125"/>
            <a:ext cx="8768080" cy="400271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F5F2205-CC01-ADF9-6D22-24266F652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" y="5267626"/>
            <a:ext cx="6400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/>
              <a:t>Business Insights</a:t>
            </a: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Winter and Fall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highest card spending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Festive and seasonal shopping increases card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Summer shows moderate spending</a:t>
            </a:r>
          </a:p>
        </p:txBody>
      </p:sp>
    </p:spTree>
    <p:extLst>
      <p:ext uri="{BB962C8B-B14F-4D97-AF65-F5344CB8AC3E}">
        <p14:creationId xmlns:p14="http://schemas.microsoft.com/office/powerpoint/2010/main" val="4238346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101FAB-0F42-924B-2E0F-8A5A1CE8507B}"/>
              </a:ext>
            </a:extLst>
          </p:cNvPr>
          <p:cNvSpPr txBox="1"/>
          <p:nvPr/>
        </p:nvSpPr>
        <p:spPr>
          <a:xfrm>
            <a:off x="182880" y="2166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38.Location-wise Card Spending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4BB60-447C-0741-B456-36C78E932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873760"/>
            <a:ext cx="8707120" cy="352551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977117A-469B-87F4-0558-00E4C69B1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640" y="4713516"/>
            <a:ext cx="742696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/>
              <a:t>Business Insights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locations show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card spending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in developed regions prefer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payments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locations show low card usage → growth opportunity</a:t>
            </a:r>
          </a:p>
        </p:txBody>
      </p:sp>
    </p:spTree>
    <p:extLst>
      <p:ext uri="{BB962C8B-B14F-4D97-AF65-F5344CB8AC3E}">
        <p14:creationId xmlns:p14="http://schemas.microsoft.com/office/powerpoint/2010/main" val="33985665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94FD43-C313-91C4-8E01-DB09A6CD24A1}"/>
              </a:ext>
            </a:extLst>
          </p:cNvPr>
          <p:cNvSpPr txBox="1"/>
          <p:nvPr/>
        </p:nvSpPr>
        <p:spPr>
          <a:xfrm>
            <a:off x="314632" y="228289"/>
            <a:ext cx="6843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39.Feature Selection for Customer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2F0A4D-D66A-6B74-BCBC-887F00C598D7}"/>
              </a:ext>
            </a:extLst>
          </p:cNvPr>
          <p:cNvSpPr txBox="1"/>
          <p:nvPr/>
        </p:nvSpPr>
        <p:spPr>
          <a:xfrm>
            <a:off x="2526890" y="9918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Features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PurchaseAmountUSD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PreviousPurchases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FrequencyOfPurchases</a:t>
            </a:r>
          </a:p>
        </p:txBody>
      </p:sp>
    </p:spTree>
    <p:extLst>
      <p:ext uri="{BB962C8B-B14F-4D97-AF65-F5344CB8AC3E}">
        <p14:creationId xmlns:p14="http://schemas.microsoft.com/office/powerpoint/2010/main" val="20811627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1E9FD2-6F39-728C-9882-AF0BF613CFE1}"/>
              </a:ext>
            </a:extLst>
          </p:cNvPr>
          <p:cNvSpPr txBox="1"/>
          <p:nvPr/>
        </p:nvSpPr>
        <p:spPr>
          <a:xfrm>
            <a:off x="412955" y="186502"/>
            <a:ext cx="33626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40.</a:t>
            </a:r>
            <a:r>
              <a:rPr lang="en-US" sz="2800"/>
              <a:t> </a:t>
            </a:r>
            <a:r>
              <a:rPr lang="en-US" sz="2800" b="1"/>
              <a:t>Feature Encoding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3290B-7BA8-CECA-0984-55029535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852" y="973395"/>
            <a:ext cx="9478295" cy="28710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DC1C55-E893-5CDF-03E1-21533EF7C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632" y="3903233"/>
            <a:ext cx="9261987" cy="19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85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ABECF5-9743-8328-BCF5-20A8291FE797}"/>
              </a:ext>
            </a:extLst>
          </p:cNvPr>
          <p:cNvSpPr txBox="1"/>
          <p:nvPr/>
        </p:nvSpPr>
        <p:spPr>
          <a:xfrm>
            <a:off x="393290" y="355364"/>
            <a:ext cx="38444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41.Feature Selection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E536E-3A0C-7CF2-F2F2-71F04942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68" y="1219201"/>
            <a:ext cx="8691716" cy="454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384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A1D44F-7295-9362-FB63-EDECC2FD78EE}"/>
              </a:ext>
            </a:extLst>
          </p:cNvPr>
          <p:cNvSpPr txBox="1"/>
          <p:nvPr/>
        </p:nvSpPr>
        <p:spPr>
          <a:xfrm>
            <a:off x="501446" y="257785"/>
            <a:ext cx="27825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42.Data Scaling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951D3-1E32-E071-C4EE-1B74FF2DD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9" y="1120877"/>
            <a:ext cx="8799871" cy="455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13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9C2B67-F90F-6E0A-39CE-E46917B61653}"/>
              </a:ext>
            </a:extLst>
          </p:cNvPr>
          <p:cNvSpPr txBox="1"/>
          <p:nvPr/>
        </p:nvSpPr>
        <p:spPr>
          <a:xfrm>
            <a:off x="471948" y="208624"/>
            <a:ext cx="56240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43.K-Means Model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F0AE71-9EFA-9D0C-5E90-CCCAE1974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677" y="1120877"/>
            <a:ext cx="8888361" cy="453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4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C825F2-ADE7-7B82-01B3-84B781CDE011}"/>
              </a:ext>
            </a:extLst>
          </p:cNvPr>
          <p:cNvSpPr txBox="1"/>
          <p:nvPr/>
        </p:nvSpPr>
        <p:spPr>
          <a:xfrm>
            <a:off x="629264" y="336443"/>
            <a:ext cx="4001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44.Cluster Size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1599C-5866-552A-2E8F-DC40EF5EF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35" y="1189702"/>
            <a:ext cx="8868697" cy="444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468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E73AE4-1F07-811F-4221-278E348D1B33}"/>
              </a:ext>
            </a:extLst>
          </p:cNvPr>
          <p:cNvSpPr txBox="1"/>
          <p:nvPr/>
        </p:nvSpPr>
        <p:spPr>
          <a:xfrm>
            <a:off x="560439" y="297113"/>
            <a:ext cx="48964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45.Cluster Summary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E961B0-1BD7-2F27-1B0C-F2B3BFA50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864" y="1049593"/>
            <a:ext cx="8190271" cy="475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59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2B5D06-03FE-0F22-1911-529F303F708D}"/>
              </a:ext>
            </a:extLst>
          </p:cNvPr>
          <p:cNvSpPr txBox="1"/>
          <p:nvPr/>
        </p:nvSpPr>
        <p:spPr>
          <a:xfrm>
            <a:off x="491613" y="346276"/>
            <a:ext cx="56043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46.Customer Cluster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85D2B-D442-1F15-C469-7BD9D1627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619" y="1259457"/>
            <a:ext cx="9802761" cy="21185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3A6D4F-7238-7920-A584-47251DFC2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16" y="3378001"/>
            <a:ext cx="10196052" cy="303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449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145AF3-423F-5567-B418-AF351655EBA7}"/>
              </a:ext>
            </a:extLst>
          </p:cNvPr>
          <p:cNvSpPr txBox="1"/>
          <p:nvPr/>
        </p:nvSpPr>
        <p:spPr>
          <a:xfrm>
            <a:off x="2635044" y="1126665"/>
            <a:ext cx="61648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Cluster 0 – High Spenders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High purchase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Frequent buyers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Loyal customers</a:t>
            </a:r>
          </a:p>
          <a:p>
            <a:pPr>
              <a:buNone/>
            </a:pPr>
            <a:r>
              <a:rPr lang="en-US" b="1"/>
              <a:t>Action:</a:t>
            </a:r>
            <a:r>
              <a:rPr lang="en-US"/>
              <a:t> Loyalty rewards, premium offers</a:t>
            </a: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b="1"/>
              <a:t>Cluster 1 – Budget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Low spending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Infrequent purchases</a:t>
            </a:r>
          </a:p>
          <a:p>
            <a:pPr>
              <a:buNone/>
            </a:pPr>
            <a:r>
              <a:rPr lang="en-US" b="1"/>
              <a:t>Action:</a:t>
            </a:r>
            <a:r>
              <a:rPr lang="en-US"/>
              <a:t> Discounts, promo codes</a:t>
            </a: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b="1"/>
              <a:t>Cluster 2 – Seasonal Buyers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Moderate spending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Purchase during specific seasons</a:t>
            </a:r>
          </a:p>
          <a:p>
            <a:pPr>
              <a:buNone/>
            </a:pPr>
            <a:r>
              <a:rPr lang="en-US" b="1"/>
              <a:t>Action:</a:t>
            </a:r>
            <a:r>
              <a:rPr lang="en-US"/>
              <a:t> Seasonal campaigns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F9DD0-79BD-7D7B-96E5-45B011D57681}"/>
              </a:ext>
            </a:extLst>
          </p:cNvPr>
          <p:cNvSpPr txBox="1"/>
          <p:nvPr/>
        </p:nvSpPr>
        <p:spPr>
          <a:xfrm>
            <a:off x="442452" y="314882"/>
            <a:ext cx="50046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47.Final Cluster Interpretation </a:t>
            </a:r>
          </a:p>
        </p:txBody>
      </p:sp>
    </p:spTree>
    <p:extLst>
      <p:ext uri="{BB962C8B-B14F-4D97-AF65-F5344CB8AC3E}">
        <p14:creationId xmlns:p14="http://schemas.microsoft.com/office/powerpoint/2010/main" val="1373649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047905-EB26-4C70-810B-BB1C82A4161A}"/>
              </a:ext>
            </a:extLst>
          </p:cNvPr>
          <p:cNvSpPr txBox="1"/>
          <p:nvPr/>
        </p:nvSpPr>
        <p:spPr>
          <a:xfrm>
            <a:off x="678425" y="1279492"/>
            <a:ext cx="742335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/>
              <a:t>48.Interactive Dashboard for Customer Insights</a:t>
            </a:r>
            <a:endParaRPr lang="en-US" sz="2800"/>
          </a:p>
          <a:p>
            <a:pPr>
              <a:buNone/>
            </a:pPr>
            <a:endParaRPr lang="en-US" b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29D69C-8124-7FA0-B013-D27F3911C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1459" y="2505670"/>
            <a:ext cx="569287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sales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customer spending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discount and marketing decisions</a:t>
            </a:r>
          </a:p>
        </p:txBody>
      </p:sp>
    </p:spTree>
    <p:extLst>
      <p:ext uri="{BB962C8B-B14F-4D97-AF65-F5344CB8AC3E}">
        <p14:creationId xmlns:p14="http://schemas.microsoft.com/office/powerpoint/2010/main" val="18429002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48D42-5DF2-BE44-6DEF-99813569A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1001819"/>
            <a:ext cx="10196052" cy="4854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A5C188-6223-4F51-BB5C-9BE305456092}"/>
              </a:ext>
            </a:extLst>
          </p:cNvPr>
          <p:cNvSpPr txBox="1"/>
          <p:nvPr/>
        </p:nvSpPr>
        <p:spPr>
          <a:xfrm>
            <a:off x="157315" y="129966"/>
            <a:ext cx="90456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49.Customer Segmentation &amp; Sales Insights Dashboard</a:t>
            </a:r>
          </a:p>
        </p:txBody>
      </p:sp>
    </p:spTree>
    <p:extLst>
      <p:ext uri="{BB962C8B-B14F-4D97-AF65-F5344CB8AC3E}">
        <p14:creationId xmlns:p14="http://schemas.microsoft.com/office/powerpoint/2010/main" val="21509816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C7862C-94FD-1D11-18C3-6CA19179A5AB}"/>
              </a:ext>
            </a:extLst>
          </p:cNvPr>
          <p:cNvSpPr txBox="1"/>
          <p:nvPr/>
        </p:nvSpPr>
        <p:spPr>
          <a:xfrm>
            <a:off x="353960" y="267618"/>
            <a:ext cx="54470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50.DASHBOARD Key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8EFEA-18C0-84BF-DCA0-B2E386AC0473}"/>
              </a:ext>
            </a:extLst>
          </p:cNvPr>
          <p:cNvSpPr txBox="1"/>
          <p:nvPr/>
        </p:nvSpPr>
        <p:spPr>
          <a:xfrm>
            <a:off x="1514168" y="1002890"/>
            <a:ext cx="911450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🔹 Insight 1: Revenue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Total revenue shows strong contribution from repeat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Average purchase value indicates steady customer spending behavior</a:t>
            </a: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b="1"/>
              <a:t>🔹 Insight 2: Category-wise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Few product categories generate majority of 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These categories should be prioritized for inventory and promotions</a:t>
            </a: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b="1"/>
              <a:t>🔹 Insight 3: Age vs Spending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Middle-aged customers contribute the highest spending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Younger customers show lower spending but higher growth potential</a:t>
            </a: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b="1"/>
              <a:t>🔹 Insight 4: Seasonal Revenue Trend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Sales peak during specific seasons indicating seasonal buying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Seasonal campaigns can significantly improve overall revenue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731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11C2BA-038F-5178-9095-12AAA5EFFCD5}"/>
              </a:ext>
            </a:extLst>
          </p:cNvPr>
          <p:cNvSpPr txBox="1"/>
          <p:nvPr/>
        </p:nvSpPr>
        <p:spPr>
          <a:xfrm>
            <a:off x="1189703" y="1584799"/>
            <a:ext cx="795429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🔹 Insight 5: Customer Cluster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High spenders form a smaller but high-value customer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Budget customers form the largest group and are discount-sensitive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Seasonal buyers purchase occasionally and respond to time-based offers</a:t>
            </a:r>
          </a:p>
          <a:p>
            <a:pPr>
              <a:buNone/>
            </a:pPr>
            <a:br>
              <a:rPr lang="en-US"/>
            </a:br>
            <a:endParaRPr lang="en-US"/>
          </a:p>
          <a:p>
            <a:pPr>
              <a:buNone/>
            </a:pPr>
            <a:r>
              <a:rPr lang="en-US" b="1"/>
              <a:t>🔹 Insight 6: Business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Customer segmentation enables targeted marketing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Data-driven discounts improve sales efficiency and customer retention</a:t>
            </a:r>
          </a:p>
        </p:txBody>
      </p:sp>
    </p:spTree>
    <p:extLst>
      <p:ext uri="{BB962C8B-B14F-4D97-AF65-F5344CB8AC3E}">
        <p14:creationId xmlns:p14="http://schemas.microsoft.com/office/powerpoint/2010/main" val="2078441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A72673-530E-2286-7626-7E59DCEFDCA7}"/>
              </a:ext>
            </a:extLst>
          </p:cNvPr>
          <p:cNvSpPr txBox="1"/>
          <p:nvPr/>
        </p:nvSpPr>
        <p:spPr>
          <a:xfrm>
            <a:off x="304800" y="424087"/>
            <a:ext cx="11120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51.Targeted Marketing Recommendations Based on Customer Segments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9DFF8C-23EE-C090-0FF6-BF406234A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7727" y="1012004"/>
            <a:ext cx="75708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customized marketing strategies using customer clusters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customer retention, conversion, and revenue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37638-B0B5-2C96-7B4C-5DA3CF4217E5}"/>
              </a:ext>
            </a:extLst>
          </p:cNvPr>
          <p:cNvSpPr txBox="1"/>
          <p:nvPr/>
        </p:nvSpPr>
        <p:spPr>
          <a:xfrm>
            <a:off x="737418" y="1723032"/>
            <a:ext cx="931114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Cluster 0: High Spenders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 b="1"/>
              <a:t>Customer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High purchase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Frequent and repeat purchases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High customer lifetime value</a:t>
            </a:r>
          </a:p>
          <a:p>
            <a:pPr>
              <a:buNone/>
            </a:pPr>
            <a:r>
              <a:rPr lang="en-US" b="1"/>
              <a:t>Recommended Strategy: Loyalty Rewards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 b="1"/>
              <a:t>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Exclusive membership programs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Reward points and cashback offers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Early access to new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Personalized premium recommendations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 Business Reasoning</a:t>
            </a:r>
          </a:p>
          <a:p>
            <a:pPr>
              <a:buNone/>
            </a:pPr>
            <a:r>
              <a:rPr lang="en-US"/>
              <a:t>High spenders generate maximum revenue. Retaining them costs less than acquiring</a:t>
            </a:r>
            <a:br>
              <a:rPr lang="en-US"/>
            </a:br>
            <a:r>
              <a:rPr lang="en-US"/>
              <a:t>new customers, making loyalty programs highly profitable.</a:t>
            </a:r>
          </a:p>
        </p:txBody>
      </p:sp>
    </p:spTree>
    <p:extLst>
      <p:ext uri="{BB962C8B-B14F-4D97-AF65-F5344CB8AC3E}">
        <p14:creationId xmlns:p14="http://schemas.microsoft.com/office/powerpoint/2010/main" val="3720236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67FFC7-B8E5-DBCB-05F9-FFED3CF52BDE}"/>
              </a:ext>
            </a:extLst>
          </p:cNvPr>
          <p:cNvSpPr txBox="1"/>
          <p:nvPr/>
        </p:nvSpPr>
        <p:spPr>
          <a:xfrm>
            <a:off x="1086464" y="1147598"/>
            <a:ext cx="938489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Cluster 1: Seasonal Buyers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 b="1"/>
              <a:t>Customer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Moderate spending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Purchases concentrated in specific seasons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Event or festival-driven behavior</a:t>
            </a:r>
          </a:p>
          <a:p>
            <a:pPr>
              <a:buNone/>
            </a:pPr>
            <a:r>
              <a:rPr lang="en-US" b="1"/>
              <a:t> Recommended Strategy: Seasonal Discounts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 b="1"/>
              <a:t>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Festival and holiday discounts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Time-bound promotional offers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Seasonal email and SMS campaigns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None/>
            </a:pPr>
            <a:r>
              <a:rPr lang="en-US" b="1"/>
              <a:t> Business Reasoning</a:t>
            </a:r>
          </a:p>
          <a:p>
            <a:pPr>
              <a:buNone/>
            </a:pPr>
            <a:r>
              <a:rPr lang="en-US"/>
              <a:t>Seasonal buyers respond strongly to time-based offers. Targeting them during peak</a:t>
            </a:r>
            <a:br>
              <a:rPr lang="en-US"/>
            </a:br>
            <a:r>
              <a:rPr lang="en-US"/>
              <a:t>periods maximizes conversion and boosts seasonal revenue.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906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36F614-5012-78DB-4C0D-57497CC8CE53}"/>
              </a:ext>
            </a:extLst>
          </p:cNvPr>
          <p:cNvSpPr txBox="1"/>
          <p:nvPr/>
        </p:nvSpPr>
        <p:spPr>
          <a:xfrm>
            <a:off x="1012722" y="1072674"/>
            <a:ext cx="84164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Cluster 2: Budget Customers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 b="1"/>
              <a:t>Customer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Low purchase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Infrequent buyers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Price-sensitive</a:t>
            </a:r>
          </a:p>
          <a:p>
            <a:pPr>
              <a:buNone/>
            </a:pPr>
            <a:r>
              <a:rPr lang="en-US" b="1"/>
              <a:t>Recommended Strategy: Promotional Campaigns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 b="1"/>
              <a:t>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Discount coupons and promo codes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Flash sales and bundle offers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First-time buyer discounts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None/>
            </a:pPr>
            <a:r>
              <a:rPr lang="en-US" b="1"/>
              <a:t>Business Reasoning</a:t>
            </a:r>
          </a:p>
          <a:p>
            <a:pPr>
              <a:buNone/>
            </a:pPr>
            <a:r>
              <a:rPr lang="en-US"/>
              <a:t>Budget customers are price-driven. Promotional offers reduce purchase hesitation</a:t>
            </a:r>
            <a:br>
              <a:rPr lang="en-US"/>
            </a:br>
            <a:r>
              <a:rPr lang="en-US"/>
              <a:t>and help convert them into repeat customers.</a:t>
            </a:r>
          </a:p>
        </p:txBody>
      </p:sp>
    </p:spTree>
    <p:extLst>
      <p:ext uri="{BB962C8B-B14F-4D97-AF65-F5344CB8AC3E}">
        <p14:creationId xmlns:p14="http://schemas.microsoft.com/office/powerpoint/2010/main" val="25080968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FE0F96-6676-E161-6BE4-AEC84D12F5AF}"/>
              </a:ext>
            </a:extLst>
          </p:cNvPr>
          <p:cNvSpPr txBox="1"/>
          <p:nvPr/>
        </p:nvSpPr>
        <p:spPr>
          <a:xfrm>
            <a:off x="629265" y="72973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52.Skills Demonstrated in This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19C383-E97D-2C2E-509B-980ABBE5C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599" y="1925030"/>
            <a:ext cx="62926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Query Writing and Data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 and Storytelling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Segmentation using Clustering Techniques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Strategy and Marketing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 Design (Power BI)</a:t>
            </a:r>
          </a:p>
        </p:txBody>
      </p:sp>
    </p:spTree>
    <p:extLst>
      <p:ext uri="{BB962C8B-B14F-4D97-AF65-F5344CB8AC3E}">
        <p14:creationId xmlns:p14="http://schemas.microsoft.com/office/powerpoint/2010/main" val="21186663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AA7583-B7AA-C1BC-58FC-451AF58EE3CF}"/>
              </a:ext>
            </a:extLst>
          </p:cNvPr>
          <p:cNvSpPr txBox="1"/>
          <p:nvPr/>
        </p:nvSpPr>
        <p:spPr>
          <a:xfrm>
            <a:off x="629264" y="451973"/>
            <a:ext cx="30676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53.Future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CA20F-F166-F31F-D9AE-8EC34128EA78}"/>
              </a:ext>
            </a:extLst>
          </p:cNvPr>
          <p:cNvSpPr txBox="1"/>
          <p:nvPr/>
        </p:nvSpPr>
        <p:spPr>
          <a:xfrm>
            <a:off x="1710813" y="1307800"/>
            <a:ext cx="88195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Integrate real-time data to analyze customer behavior and purchase trends dynamically.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Apply advanced machine learning models (such as Random Forest or XGBoost) for more accurate customer segmentation and demand prediction.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Include additional customer attributes like location, income level, and device usage for deeper insights.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Automate the dashboard to refresh data periodically using scheduled data pipelines.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Perform sentiment analysis on customer reviews to understand customer satisfaction and preferences.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Extend the analysis to predict customer churn and design proactive retention strategies.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Deploy the dashboard as a web application for easy access by business stakeholders.</a:t>
            </a:r>
          </a:p>
        </p:txBody>
      </p:sp>
    </p:spTree>
    <p:extLst>
      <p:ext uri="{BB962C8B-B14F-4D97-AF65-F5344CB8AC3E}">
        <p14:creationId xmlns:p14="http://schemas.microsoft.com/office/powerpoint/2010/main" val="42505548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05ABD5-9E91-71FC-5690-7CABB22CD3A7}"/>
              </a:ext>
            </a:extLst>
          </p:cNvPr>
          <p:cNvSpPr txBox="1"/>
          <p:nvPr/>
        </p:nvSpPr>
        <p:spPr>
          <a:xfrm>
            <a:off x="747252" y="572418"/>
            <a:ext cx="27530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54.Conclusion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85AF9-0DDB-8B83-9BBC-894DF5A3CB3C}"/>
              </a:ext>
            </a:extLst>
          </p:cNvPr>
          <p:cNvSpPr txBox="1"/>
          <p:nvPr/>
        </p:nvSpPr>
        <p:spPr>
          <a:xfrm>
            <a:off x="1730477" y="1307800"/>
            <a:ext cx="756100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This project successfully analyzed customer purchasing behavior using data cleaning, visualization, and clustering techniques. By applying K-Means clustering, customers were segmented into meaningful groups such as high spenders, seasonal buyers, and budget customers. These insights helped identify buying patterns, spending habits, and demand across different categories.</a:t>
            </a:r>
          </a:p>
          <a:p>
            <a:pPr>
              <a:buNone/>
            </a:pPr>
            <a:r>
              <a:rPr lang="en-US"/>
              <a:t>The interactive Power BI dashboard provided a clear view of key business metrics, enabling data-driven decision-making. Based on the analysis, targeted marketing strategies were recommended, such as loyalty programs for high-value customers, seasonal discounts, and promotional offers for price-sensitive customers. Overall, this project demonstrates how data analytics can support better business strategies, improve customer engagement, and drive revenue growth.</a:t>
            </a:r>
          </a:p>
        </p:txBody>
      </p:sp>
    </p:spTree>
    <p:extLst>
      <p:ext uri="{BB962C8B-B14F-4D97-AF65-F5344CB8AC3E}">
        <p14:creationId xmlns:p14="http://schemas.microsoft.com/office/powerpoint/2010/main" val="507541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</TotalTime>
  <Words>1713</Words>
  <Application>Microsoft Office PowerPoint</Application>
  <PresentationFormat>Widescreen</PresentationFormat>
  <Paragraphs>258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Calibri</vt:lpstr>
      <vt:lpstr>Calibri Light</vt:lpstr>
      <vt:lpstr>Office Theme</vt:lpstr>
      <vt:lpstr>Customer Segmentation (CDACL-002)  Submitted by: Laxmi Kaddoni  Tools Used: mysql |Excel| jupyter Notebook | Power BI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laxmi</dc:creator>
  <cp:lastModifiedBy>laxmi</cp:lastModifiedBy>
  <cp:revision>17</cp:revision>
  <dcterms:created xsi:type="dcterms:W3CDTF">2026-02-14T10:50:29Z</dcterms:created>
  <dcterms:modified xsi:type="dcterms:W3CDTF">2026-02-18T13:30:57Z</dcterms:modified>
</cp:coreProperties>
</file>